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2" r:id="rId13"/>
    <p:sldId id="268" r:id="rId19"/>
    <p:sldId id="270" r:id="rId21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here so everyone can scan or type the workshop URL.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Replace the placeholder redemption code on this slide before presenting.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of the VS Code lab section. Leave this slide up during questions.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Transition from the VS Code lab to the GitHub Copilot app lab.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of the Copilot App lab section. Leave this slide up during questions.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slide. Keep this visible while attendees save the workshop URL.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 the complete VS Code lab at a glance; individual exercise details remain in the workshop site.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Map the complete Copilot App lab, including the restored guided tour before Tailspin work.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486400" y="0"/>
            <a:ext cx="365760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172200" y="5394960"/>
            <a:ext cx="2286000" cy="36576"/>
          </a:xfrm>
          <a:prstGeom prst="rect">
            <a:avLst/>
          </a:prstGeom>
          <a:solidFill>
            <a:srgbClr val="8CB0FF"/>
          </a:solidFill>
        </p:spPr>
        <p:txBody>
          <a:bodyPr rtlCol="0" anchor="ctr"/>
          <a:lstStyle/>
          <a:p/>
        </p:txBody>
      </p:sp>
      <p:sp>
        <p:nvSpPr>
          <p:cNvPr id="5" name="Shape 5"/>
          <p:cNvSpPr/>
          <p:nvPr/>
        </p:nvSpPr>
        <p:spPr>
          <a:xfrm>
            <a:off x="6080760" y="5303520"/>
            <a:ext cx="182880" cy="182880"/>
          </a:xfrm>
          <a:prstGeom prst="ellipse">
            <a:avLst/>
          </a:prstGeom>
          <a:solidFill>
            <a:srgbClr val="F8FAFC"/>
          </a:solidFill>
        </p:spPr>
        <p:txBody>
          <a:bodyPr rtlCol="0"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7178040" y="530352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8366760" y="5303520"/>
            <a:ext cx="182880" cy="182880"/>
          </a:xfrm>
          <a:prstGeom prst="ellipse">
            <a:avLst/>
          </a:prstGeom>
          <a:solidFill>
            <a:srgbClr val="F8FAFC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6492240" y="914400"/>
            <a:ext cx="1645920" cy="1645920"/>
          </a:xfrm>
          <a:prstGeom prst="triangle">
            <a:avLst/>
          </a:prstGeom>
          <a:solidFill>
            <a:srgbClr val="F8FAFC"/>
          </a:solidFill>
        </p:spPr>
        <p:txBody>
          <a:bodyPr rtlCol="0"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731520" y="548640"/>
            <a:ext cx="4572000" cy="31089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 spc="260">
                <a:solidFill>
                  <a:srgbClr val="1746D1"/>
                </a:solidFill>
                <a:latin typeface="Aptos"/>
              </a:rPr>
              <a:t>NDC OSLO 2026  ·  OSLO SPEKTRUM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1520" y="1280160"/>
            <a:ext cx="4572000" cy="18288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5000" spc="-100">
                <a:solidFill>
                  <a:srgbClr val="172033"/>
                </a:solidFill>
                <a:latin typeface="Aptos Display"/>
              </a:rPr>
              <a:t>GitHub Copilot</a:t>
            </a:r>
          </a:p>
          <a:p>
            <a:r>
              <a:rPr b="1" sz="5000" spc="-100">
                <a:solidFill>
                  <a:srgbClr val="1746D1"/>
                </a:solidFill>
                <a:latin typeface="Aptos Display"/>
              </a:rPr>
              <a:t>Workshop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1520" y="3520440"/>
            <a:ext cx="4572000" cy="11887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100">
                <a:solidFill>
                  <a:srgbClr val="455166"/>
                </a:solidFill>
                <a:latin typeface="Aptos"/>
              </a:rPr>
              <a:t>Two tracks. One agentic journey.</a:t>
            </a:r>
          </a:p>
          <a:p>
            <a:r>
              <a:rPr sz="2100">
                <a:solidFill>
                  <a:srgbClr val="455166"/>
                </a:solidFill>
                <a:latin typeface="Aptos"/>
              </a:rPr>
              <a:t>VS Code first, then the Copilot app.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1520" y="5486400"/>
            <a:ext cx="457200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80">
                <a:solidFill>
                  <a:srgbClr val="172033"/>
                </a:solidFill>
                <a:latin typeface="Aptos"/>
              </a:rPr>
              <a:t>KAYLA CINNAMON  ×  JAMES MONTEMAGNO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72200" y="3108960"/>
            <a:ext cx="2286000" cy="5486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 spc="80">
                <a:solidFill>
                  <a:srgbClr val="F8FAFC"/>
                </a:solidFill>
                <a:latin typeface="Aptos"/>
              </a:rPr>
              <a:t>01  VS CODE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72200" y="3840480"/>
            <a:ext cx="2286000" cy="5486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 spc="80">
                <a:solidFill>
                  <a:srgbClr val="F8FAFC"/>
                </a:solidFill>
                <a:latin typeface="Aptos"/>
              </a:rPr>
              <a:t>02  COPILOT APP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72200" y="4754880"/>
            <a:ext cx="2286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300" spc="160">
                <a:solidFill>
                  <a:srgbClr val="C9D8FF"/>
                </a:solidFill>
                <a:latin typeface="Aptos"/>
              </a:rPr>
              <a:t>TWO WORK SURFACES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520" y="6255552"/>
            <a:ext cx="457200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>
                <a:solidFill>
                  <a:srgbClr val="1746D1"/>
                </a:solidFill>
                <a:latin typeface="Aptos"/>
              </a:rPr>
              <a:t>aka.ms/ndc-oslo-copilot-workshop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47472"/>
            <a:ext cx="6858000" cy="31089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 spc="240">
                <a:solidFill>
                  <a:srgbClr val="1746D1"/>
                </a:solidFill>
                <a:latin typeface="Aptos"/>
              </a:rPr>
              <a:t>WORKSHOP ROUTE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754380"/>
            <a:ext cx="7772400" cy="11887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200" spc="-60">
                <a:solidFill>
                  <a:srgbClr val="172033"/>
                </a:solidFill>
                <a:latin typeface="Aptos Display"/>
              </a:rPr>
              <a:t>Workshop at a glance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1600" y="2377440"/>
            <a:ext cx="7086600" cy="7924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172033"/>
                </a:solidFill>
                <a:latin typeface="Aptos"/>
              </a:rPr>
              <a:t>VS Code — agents in your editor</a:t>
            </a:r>
          </a:p>
          <a:p>
            <a:r>
              <a:rPr sz="1700">
                <a:solidFill>
                  <a:srgbClr val="455166"/>
                </a:solidFill>
                <a:latin typeface="Aptos"/>
              </a:rPr>
              <a:t>Skills, hooks, browser tools, and Plan mode.</a:t>
            </a:r>
          </a:p>
          <a:p>
            <a:r>
              <a:rPr sz="600">
                <a:solidFill>
                  <a:srgbClr val="455166"/>
                </a:solidFill>
                <a:latin typeface="Aptos"/>
              </a:rPr>
              <a:t xml:space="preserve"> 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900">
                <a:solidFill>
                  <a:srgbClr val="1746D1"/>
                </a:solidFill>
                <a:latin typeface="Aptos"/>
              </a:rPr>
              <a:t>OUTCOME  ·  Two practical, repo-backed development loops.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00216"/>
            <a:ext cx="685800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46720" y="6300216"/>
            <a:ext cx="64008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300">
                <a:solidFill>
                  <a:srgbClr val="1746D1"/>
                </a:solidFill>
                <a:latin typeface="Aptos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1600" y="3200400"/>
            <a:ext cx="7086600" cy="7924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172033"/>
                </a:solidFill>
                <a:latin typeface="Aptos"/>
              </a:rPr>
              <a:t>Copilot app — issue to merge</a:t>
            </a:r>
          </a:p>
          <a:p>
            <a:r>
              <a:rPr sz="1700">
                <a:solidFill>
                  <a:srgbClr val="455166"/>
                </a:solidFill>
                <a:latin typeface="Aptos"/>
              </a:rPr>
              <a:t>Sessions, Plan, Autopilot, MCP testing, and Agent Merge.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1600" y="4023360"/>
            <a:ext cx="7086600" cy="7924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172033"/>
                </a:solidFill>
                <a:latin typeface="Aptos"/>
              </a:rPr>
              <a:t>One shared route map</a:t>
            </a:r>
          </a:p>
          <a:p>
            <a:r>
              <a:rPr sz="1700">
                <a:solidFill>
                  <a:srgbClr val="455166"/>
                </a:solidFill>
                <a:latin typeface="Aptos"/>
              </a:rPr>
              <a:t>Keep the site open; progress saves in your browser.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" y="2465832"/>
            <a:ext cx="5943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60">
                <a:solidFill>
                  <a:srgbClr val="1746D1"/>
                </a:solidFill>
                <a:latin typeface="Aptos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5800" y="3288792"/>
            <a:ext cx="5943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60">
                <a:solidFill>
                  <a:srgbClr val="1746D1"/>
                </a:solidFill>
                <a:latin typeface="Aptos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" y="4111752"/>
            <a:ext cx="5943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60">
                <a:solidFill>
                  <a:srgbClr val="1746D1"/>
                </a:solidFill>
                <a:latin typeface="Aptos"/>
              </a:rPr>
              <a:t>03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3063240"/>
            <a:ext cx="7772400" cy="12700"/>
          </a:xfrm>
          <a:prstGeom prst="rect">
            <a:avLst/>
          </a:prstGeom>
          <a:solidFill>
            <a:srgbClr val="CFD8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Shape 17"/>
          <p:cNvSpPr/>
          <p:nvPr/>
        </p:nvSpPr>
        <p:spPr>
          <a:xfrm>
            <a:off x="685800" y="3886200"/>
            <a:ext cx="7772400" cy="12700"/>
          </a:xfrm>
          <a:prstGeom prst="rect">
            <a:avLst/>
          </a:prstGeom>
          <a:solidFill>
            <a:srgbClr val="CFD8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Shape 18"/>
          <p:cNvSpPr/>
          <p:nvPr/>
        </p:nvSpPr>
        <p:spPr>
          <a:xfrm>
            <a:off x="685800" y="2011680"/>
            <a:ext cx="594360" cy="54864"/>
          </a:xfrm>
          <a:prstGeom prst="rect">
            <a:avLst/>
          </a:prstGeom>
          <a:solidFill>
            <a:srgbClr val="E45A3E"/>
          </a:solidFill>
          <a:ln>
            <a:noFill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65760"/>
            <a:ext cx="5486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1746D1"/>
                </a:solidFill>
                <a:latin typeface="Aptos"/>
              </a:rPr>
              <a:t>ARRIVE READY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68680"/>
            <a:ext cx="7772400" cy="1005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 spc="-80">
                <a:solidFill>
                  <a:srgbClr val="172033"/>
                </a:solidFill>
                <a:latin typeface="Aptos Display"/>
              </a:rPr>
              <a:t>Prepare once. Stay in flow.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03120"/>
            <a:ext cx="777240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GitHub account with Copilot access and permission to create repositories.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Git · Node.js 22 or 24 · VS Code 1.135+ · GitHub Copilot app.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Clone agent-lab-typescript before the workshop and verify both sign-ins.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600">
                <a:solidFill>
                  <a:srgbClr val="1746D1"/>
                </a:solidFill>
                <a:latin typeface="Aptos"/>
              </a:rPr>
              <a:t>PRE-FLIGHT  ·  Open Copilot Chat with Local selected, then launch the Copilot app.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55080"/>
            <a:ext cx="6858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0000" y="6355080"/>
            <a:ext cx="4572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1746D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508760"/>
            <a:ext cx="2423160" cy="2423160"/>
          </a:xfrm>
          <a:prstGeom prst="rect">
            <a:avLst/>
          </a:prstGeom>
        </p:spPr>
      </p:pic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47472"/>
            <a:ext cx="6858000" cy="31089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 spc="240">
                <a:solidFill>
                  <a:srgbClr val="1746D1"/>
                </a:solidFill>
                <a:latin typeface="Aptos"/>
              </a:rPr>
              <a:t>START HERE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754380"/>
            <a:ext cx="4572000" cy="12801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600" spc="-60">
                <a:solidFill>
                  <a:srgbClr val="172033"/>
                </a:solidFill>
                <a:latin typeface="Aptos Display"/>
              </a:rPr>
              <a:t>Scan once. Keep it open.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286000"/>
            <a:ext cx="420624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Preparation, both labs, resources.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Open it on your laptop before we begin.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Progress saves in your browser.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900">
                <a:solidFill>
                  <a:srgbClr val="1746D1"/>
                </a:solidFill>
                <a:latin typeface="Aptos"/>
              </a:rPr>
              <a:t>WORKSHOP  ·  aka.ms/ndc-oslo-copilot-workshop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00216"/>
            <a:ext cx="685800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46720" y="6300216"/>
            <a:ext cx="64008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300">
                <a:solidFill>
                  <a:srgbClr val="1746D1"/>
                </a:solidFill>
                <a:latin typeface="Aptos"/>
              </a:rPr>
              <a:t>03</a:t>
            </a:r>
          </a:p>
        </p:txBody>
      </p:sp>
      <p:sp>
        <p:nvSpPr>
          <p:cNvPr id="11" name="Shape 11"/>
          <p:cNvSpPr/>
          <p:nvPr/>
        </p:nvSpPr>
        <p:spPr>
          <a:xfrm>
            <a:off x="5257800" y="1143000"/>
            <a:ext cx="3200400" cy="36576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/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508760"/>
            <a:ext cx="2423160" cy="2423160"/>
          </a:xfrm>
          <a:prstGeom prst="rect">
            <a:avLst/>
          </a:prstGeom>
        </p:spPr>
      </p:pic>
      <p:sp>
        <p:nvSpPr>
          <p:cNvPr id="14" name="Shape 14"/>
          <p:cNvSpPr/>
          <p:nvPr/>
        </p:nvSpPr>
        <p:spPr>
          <a:xfrm>
            <a:off x="685800" y="2011680"/>
            <a:ext cx="594360" cy="54864"/>
          </a:xfrm>
          <a:prstGeom prst="rect">
            <a:avLst/>
          </a:prstGeom>
          <a:solidFill>
            <a:srgbClr val="E45A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5669280" y="4114800"/>
            <a:ext cx="24231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400" spc="200">
                <a:solidFill>
                  <a:srgbClr val="1746D1"/>
                </a:solidFill>
                <a:latin typeface="Aptos"/>
              </a:rPr>
              <a:t>SCAN TO OPEN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47472"/>
            <a:ext cx="6858000" cy="31089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 spc="240">
                <a:solidFill>
                  <a:srgbClr val="C53F25"/>
                </a:solidFill>
                <a:latin typeface="Aptos"/>
              </a:rPr>
              <a:t>COMPLIMENTARY ACCESS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754380"/>
            <a:ext cx="7772400" cy="11887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200" spc="-60">
                <a:solidFill>
                  <a:srgbClr val="172033"/>
                </a:solidFill>
                <a:latin typeface="Aptos Display"/>
              </a:rPr>
              <a:t>One month of GitHub Copilot Pro+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94560"/>
            <a:ext cx="7772400" cy="13716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200">
                <a:solidFill>
                  <a:srgbClr val="455166"/>
                </a:solidFill>
                <a:latin typeface="Aptos"/>
              </a:rPr>
              <a:t>Use the redemption code shown by the presenters.</a:t>
            </a:r>
          </a:p>
          <a:p>
            <a:r>
              <a:rPr sz="2200">
                <a:solidFill>
                  <a:srgbClr val="455166"/>
                </a:solidFill>
                <a:latin typeface="Aptos"/>
              </a:rPr>
              <a:t>Sign in to the GitHub account you want to upgrade.</a:t>
            </a:r>
          </a:p>
          <a:p>
            <a:r>
              <a:rPr sz="2200">
                <a:solidFill>
                  <a:srgbClr val="455166"/>
                </a:solidFill>
                <a:latin typeface="Aptos"/>
              </a:rPr>
              <a:t>Enter it at github.com/redeem and confirm.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FFF3EF"/>
          </a:solidFill>
        </p:spPr>
        <p:txBody>
          <a:bodyPr rtlCol="0" anchor="ctr"/>
          <a:lstStyle/>
          <a:p>
            <a:r>
              <a:rPr b="1" sz="1900">
                <a:solidFill>
                  <a:srgbClr val="C53F25"/>
                </a:solidFill>
                <a:latin typeface="Aptos"/>
              </a:rPr>
              <a:t>REDEEM  ·  github.com/redeem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00216"/>
            <a:ext cx="685800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46720" y="6300216"/>
            <a:ext cx="64008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300">
                <a:solidFill>
                  <a:srgbClr val="C53F25"/>
                </a:solidFill>
                <a:latin typeface="Aptos"/>
              </a:rPr>
              <a:t>04</a:t>
            </a:r>
          </a:p>
        </p:txBody>
      </p:sp>
      <p:sp>
        <p:nvSpPr>
          <p:cNvPr id="11" name="Shape 11"/>
          <p:cNvSpPr/>
          <p:nvPr/>
        </p:nvSpPr>
        <p:spPr>
          <a:xfrm>
            <a:off x="685800" y="3749040"/>
            <a:ext cx="7772400" cy="960120"/>
          </a:xfrm>
          <a:prstGeom prst="roundRect">
            <a:avLst/>
          </a:prstGeom>
          <a:solidFill>
            <a:srgbClr val="FFF3EF"/>
          </a:solidFill>
          <a:ln w="19050">
            <a:solidFill>
              <a:srgbClr val="E45A3E"/>
            </a:solidFill>
          </a:ln>
        </p:spPr>
        <p:txBody>
          <a:bodyPr rtlCol="0" anchor="ctr"/>
          <a:lstStyle/>
          <a:p>
            <a:r>
              <a:rPr b="1" sz="3000" spc="120">
                <a:solidFill>
                  <a:srgbClr val="C53F25"/>
                </a:solidFill>
                <a:latin typeface="Aptos"/>
              </a:rPr>
              <a:t>[    ADD REDEMPTION CODE    ]</a:t>
            </a:r>
          </a:p>
        </p:txBody>
      </p:sp>
      <p:sp>
        <p:nvSpPr>
          <p:cNvPr id="12" name="Shape 12"/>
          <p:cNvSpPr/>
          <p:nvPr/>
        </p:nvSpPr>
        <p:spPr>
          <a:xfrm>
            <a:off x="685800" y="2011680"/>
            <a:ext cx="594360" cy="54864"/>
          </a:xfrm>
          <a:prstGeom prst="rect">
            <a:avLst/>
          </a:prstGeom>
          <a:solidFill>
            <a:srgbClr val="E45A3E"/>
          </a:solidFill>
          <a:ln>
            <a:noFill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65760"/>
            <a:ext cx="5486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1746D1"/>
                </a:solidFill>
                <a:latin typeface="Aptos"/>
              </a:rPr>
              <a:t>ROUTE 01  /  VS CODE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68680"/>
            <a:ext cx="7772400" cy="1005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 spc="-80">
                <a:solidFill>
                  <a:srgbClr val="172033"/>
                </a:solidFill>
                <a:latin typeface="Aptos Display"/>
              </a:rPr>
              <a:t>Build inside the editor.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03120"/>
            <a:ext cx="777240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Transform Bingo Mixer, a social bingo app built with TypeScript, Vite, and Tailwind CSS.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Work with Local agent sessions, custom agents, reusable skills, hooks, and browser tools.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Five parts move from context engineering to multi-agent delivery.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1746D1"/>
          </a:solidFill>
        </p:spPr>
        <p:txBody>
          <a:bodyPr rtlCol="0" anchor="ctr"/>
          <a:lstStyle/>
          <a:p>
            <a:r>
              <a:rPr b="1" sz="1600">
                <a:solidFill>
                  <a:srgbClr val="F8FAFC"/>
                </a:solidFill>
                <a:latin typeface="Aptos"/>
              </a:rPr>
              <a:t>START  ·  Open the cloned agent-lab-typescript repository in VS Code.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55080"/>
            <a:ext cx="6858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0000" y="6355080"/>
            <a:ext cx="4572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1746D1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47472"/>
            <a:ext cx="6858000" cy="31089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 spc="240">
                <a:solidFill>
                  <a:srgbClr val="1746D1"/>
                </a:solidFill>
                <a:latin typeface="Aptos"/>
              </a:rPr>
              <a:t>ROUTE 01  /  VS CODE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754380"/>
            <a:ext cx="7772400" cy="11887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200" spc="-60">
                <a:solidFill>
                  <a:srgbClr val="172033"/>
                </a:solidFill>
                <a:latin typeface="Aptos Display"/>
              </a:rPr>
              <a:t>What we’ll do in VS Code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1600" y="2377440"/>
            <a:ext cx="7086600" cy="7924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172033"/>
                </a:solidFill>
                <a:latin typeface="Aptos"/>
              </a:rPr>
              <a:t>Engineer the context</a:t>
            </a:r>
          </a:p>
          <a:p>
            <a:r>
              <a:rPr sz="1700">
                <a:solidFill>
                  <a:srgbClr val="455166"/>
                </a:solidFill>
                <a:latin typeface="Aptos"/>
              </a:rPr>
              <a:t>/setup, /init, dogfooding, and reusable custom skills.</a:t>
            </a:r>
          </a:p>
          <a:p>
            <a:r>
              <a:rPr sz="600">
                <a:solidFill>
                  <a:srgbClr val="455166"/>
                </a:solidFill>
                <a:latin typeface="Aptos"/>
              </a:rPr>
              <a:t xml:space="preserve"> 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900">
                <a:solidFill>
                  <a:srgbClr val="1746D1"/>
                </a:solidFill>
                <a:latin typeface="Aptos"/>
              </a:rPr>
              <a:t>BUILD  ·  Extend Bingo Mixer with observable agent behavior.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00216"/>
            <a:ext cx="685800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46720" y="6300216"/>
            <a:ext cx="64008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300">
                <a:solidFill>
                  <a:srgbClr val="1746D1"/>
                </a:solidFill>
                <a:latin typeface="Aptos"/>
              </a:rPr>
              <a:t>05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1600" y="3200400"/>
            <a:ext cx="7086600" cy="7924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172033"/>
                </a:solidFill>
                <a:latin typeface="Aptos"/>
              </a:rPr>
              <a:t>Design in Plan mode</a:t>
            </a:r>
          </a:p>
          <a:p>
            <a:r>
              <a:rPr sz="1700">
                <a:solidFill>
                  <a:srgbClr val="455166"/>
                </a:solidFill>
                <a:latin typeface="Aptos"/>
              </a:rPr>
              <a:t>Comment on real UI and keep your design instructions.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1600" y="4023360"/>
            <a:ext cx="7086600" cy="7924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172033"/>
                </a:solidFill>
                <a:latin typeface="Aptos"/>
              </a:rPr>
              <a:t>Orchestrate the agents</a:t>
            </a:r>
          </a:p>
          <a:p>
            <a:r>
              <a:rPr sz="1700">
                <a:solidFill>
                  <a:srgbClr val="455166"/>
                </a:solidFill>
                <a:latin typeface="Aptos"/>
              </a:rPr>
              <a:t>Quiz Master, Pixel Jam, TDD, hooks, logs, and UX review.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" y="2465832"/>
            <a:ext cx="5943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60">
                <a:solidFill>
                  <a:srgbClr val="1746D1"/>
                </a:solidFill>
                <a:latin typeface="Aptos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5800" y="3288792"/>
            <a:ext cx="5943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60">
                <a:solidFill>
                  <a:srgbClr val="1746D1"/>
                </a:solidFill>
                <a:latin typeface="Aptos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" y="4111752"/>
            <a:ext cx="5943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60">
                <a:solidFill>
                  <a:srgbClr val="1746D1"/>
                </a:solidFill>
                <a:latin typeface="Aptos"/>
              </a:rPr>
              <a:t>03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3063240"/>
            <a:ext cx="7772400" cy="12700"/>
          </a:xfrm>
          <a:prstGeom prst="rect">
            <a:avLst/>
          </a:prstGeom>
          <a:solidFill>
            <a:srgbClr val="CFD8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Shape 17"/>
          <p:cNvSpPr/>
          <p:nvPr/>
        </p:nvSpPr>
        <p:spPr>
          <a:xfrm>
            <a:off x="685800" y="3886200"/>
            <a:ext cx="7772400" cy="12700"/>
          </a:xfrm>
          <a:prstGeom prst="rect">
            <a:avLst/>
          </a:prstGeom>
          <a:solidFill>
            <a:srgbClr val="CFD8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Shape 18"/>
          <p:cNvSpPr/>
          <p:nvPr/>
        </p:nvSpPr>
        <p:spPr>
          <a:xfrm>
            <a:off x="685800" y="2011680"/>
            <a:ext cx="594360" cy="54864"/>
          </a:xfrm>
          <a:prstGeom prst="rect">
            <a:avLst/>
          </a:prstGeom>
          <a:solidFill>
            <a:srgbClr val="E45A3E"/>
          </a:solidFill>
          <a:ln>
            <a:noFill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65760"/>
            <a:ext cx="5486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1746D1"/>
                </a:solidFill>
                <a:latin typeface="Aptos"/>
              </a:rPr>
              <a:t>VS CODE  /  PART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68680"/>
            <a:ext cx="7772400" cy="1005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 spc="-80">
                <a:solidFill>
                  <a:srgbClr val="172033"/>
                </a:solidFill>
                <a:latin typeface="Aptos Display"/>
              </a:rPr>
              <a:t>Context is a product decision.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03120"/>
            <a:ext cx="777240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Clone the complete lab repository, review approvals, and run the /setup skill.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Use /init to create concise workspace instructions grounded in the actual codebase.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Dogfood the running app, save that workflow as a skill, and tour repo customizations.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600">
                <a:solidFill>
                  <a:srgbClr val="1746D1"/>
                </a:solidFill>
                <a:latin typeface="Aptos"/>
              </a:rPr>
              <a:t>NOTICE  ·  Better context changes the quality, scope, and reliability of every response.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55080"/>
            <a:ext cx="6858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0000" y="6355080"/>
            <a:ext cx="4572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1746D1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65760"/>
            <a:ext cx="5486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1746D1"/>
                </a:solidFill>
                <a:latin typeface="Aptos"/>
              </a:rPr>
              <a:t>VS CODE  /  PART 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68680"/>
            <a:ext cx="7772400" cy="1005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 spc="-80">
                <a:solidFill>
                  <a:srgbClr val="172033"/>
                </a:solidFill>
                <a:latin typeface="Aptos Display"/>
              </a:rPr>
              <a:t>Design first. Then implement.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03120"/>
            <a:ext cx="777240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Start a full redesign in Plan mode and improve the plan before implementation.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Capture the new visual direction with /create-instructions so future work stays coherent.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Comment on one real browser element, fix it precisely, and verify the interaction.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600">
                <a:solidFill>
                  <a:srgbClr val="1746D1"/>
                </a:solidFill>
                <a:latin typeface="Aptos"/>
              </a:rPr>
              <a:t>OUTCOME  ·  A distinctive frontend plus durable design guidance for the repository.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55080"/>
            <a:ext cx="6858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0000" y="6355080"/>
            <a:ext cx="4572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1746D1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65760"/>
            <a:ext cx="5486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1746D1"/>
                </a:solidFill>
                <a:latin typeface="Aptos"/>
              </a:rPr>
              <a:t>VS CODE  /  PART 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68680"/>
            <a:ext cx="7772400" cy="1005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 spc="-80">
                <a:solidFill>
                  <a:srgbClr val="172033"/>
                </a:solidFill>
                <a:latin typeface="Aptos Display"/>
              </a:rPr>
              <a:t>Give specialists a clear lane.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03120"/>
            <a:ext cx="777240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Choose the Quiz Master custom agent and generate a themed question set.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Inspect its prompt and handoffs frontmatter before accepting the generated content.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Review and send the prepared handoff to Pixel Jam for focused visual integration.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600">
                <a:solidFill>
                  <a:srgbClr val="1746D1"/>
                </a:solidFill>
                <a:latin typeface="Aptos"/>
              </a:rPr>
              <a:t>NOTICE  ·  Human-approved handoffs differ from autonomous subagent orchestration.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55080"/>
            <a:ext cx="6858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0000" y="6355080"/>
            <a:ext cx="4572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1746D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65760"/>
            <a:ext cx="5486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1746D1"/>
                </a:solidFill>
                <a:latin typeface="Aptos"/>
              </a:rPr>
              <a:t>VS CODE  /  PART 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68680"/>
            <a:ext cx="7772400" cy="1005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 spc="-80">
                <a:solidFill>
                  <a:srgbClr val="172033"/>
                </a:solidFill>
                <a:latin typeface="Aptos Display"/>
              </a:rPr>
              <a:t>Orchestrate work. Keep the gates.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03120"/>
            <a:ext cx="777240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Activate a workspace Stop hook that prevents agents from finishing with failing tests.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Let the TDD agent coordinate Red → Green → Refactor, then inspect Agent Debug Logs.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Use Pixel Jam for Card Deck Shuffle and a UI Review agent for UX and accessibility.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600">
                <a:solidFill>
                  <a:srgbClr val="1746D1"/>
                </a:solidFill>
                <a:latin typeface="Aptos"/>
              </a:rPr>
              <a:t>OUTCOME  ·  Parallel specialization with visible flow, test discipline, and review.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55080"/>
            <a:ext cx="6858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0000" y="6355080"/>
            <a:ext cx="4572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1746D1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65760"/>
            <a:ext cx="5486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1746D1"/>
                </a:solidFill>
                <a:latin typeface="Aptos"/>
              </a:rPr>
              <a:t>VS CODE  /  PART 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68680"/>
            <a:ext cx="7772400" cy="1005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 spc="-80">
                <a:solidFill>
                  <a:srgbClr val="172033"/>
                </a:solidFill>
                <a:latin typeface="Aptos Display"/>
              </a:rPr>
              <a:t>Review the system you built.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03120"/>
            <a:ext cx="777240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A redesigned social bingo app with a custom quiz theme and specialist handoff.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A test-gated TDD flow, new bingo pattern, Card Deck Shuffle, and UX review.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Review the diff, confirm tests, commit clean checkpoints, and share what changed.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600">
                <a:solidFill>
                  <a:srgbClr val="1746D1"/>
                </a:solidFill>
                <a:latin typeface="Aptos"/>
              </a:rPr>
              <a:t>REFLECT  ·  Which instructions, skills, hooks, and agents belong in your own repos?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55080"/>
            <a:ext cx="6858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0000" y="6355080"/>
            <a:ext cx="4572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1746D1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47472"/>
            <a:ext cx="6858000" cy="31089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 spc="240">
                <a:solidFill>
                  <a:srgbClr val="1746D1"/>
                </a:solidFill>
                <a:latin typeface="Aptos"/>
              </a:rPr>
              <a:t>VS CODE  /  DOCUMENTATION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754380"/>
            <a:ext cx="7772400" cy="11887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200" spc="-60">
                <a:solidFill>
                  <a:srgbClr val="172033"/>
                </a:solidFill>
                <a:latin typeface="Aptos Display"/>
              </a:rPr>
              <a:t>Keep exploring VS Code agents.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1600" y="2377440"/>
            <a:ext cx="7086600" cy="7924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172033"/>
                </a:solidFill>
                <a:latin typeface="Aptos"/>
              </a:rPr>
              <a:t>Copilot in VS Code</a:t>
            </a:r>
          </a:p>
          <a:p>
            <a:r>
              <a:rPr b="1" sz="1600">
                <a:solidFill>
                  <a:srgbClr val="1746D1"/>
                </a:solidFill>
                <a:latin typeface="Aptos"/>
              </a:rPr>
              <a:t>code.visualstudio.com/docs/copilot/overview</a:t>
            </a:r>
          </a:p>
          <a:p>
            <a:r>
              <a:rPr b="1" sz="600">
                <a:solidFill>
                  <a:srgbClr val="1746D1"/>
                </a:solidFill>
                <a:latin typeface="Aptos"/>
              </a:rPr>
              <a:t xml:space="preserve"> 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900">
                <a:solidFill>
                  <a:srgbClr val="1746D1"/>
                </a:solidFill>
                <a:latin typeface="Aptos"/>
              </a:rPr>
              <a:t>MORE  ·  github.com/github/awesome-copilot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00216"/>
            <a:ext cx="685800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46720" y="6300216"/>
            <a:ext cx="64008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300">
                <a:solidFill>
                  <a:srgbClr val="1746D1"/>
                </a:solidFill>
                <a:latin typeface="Aptos"/>
              </a:rPr>
              <a:t>06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1600" y="3200400"/>
            <a:ext cx="7086600" cy="7924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172033"/>
                </a:solidFill>
                <a:latin typeface="Aptos"/>
              </a:rPr>
              <a:t>Agent mode</a:t>
            </a:r>
          </a:p>
          <a:p>
            <a:r>
              <a:rPr b="1" sz="1600">
                <a:solidFill>
                  <a:srgbClr val="1746D1"/>
                </a:solidFill>
                <a:latin typeface="Aptos"/>
              </a:rPr>
              <a:t>code.visualstudio.com/docs/copilot/chat/chat-agent-mode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1600" y="4023360"/>
            <a:ext cx="7086600" cy="7924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172033"/>
                </a:solidFill>
                <a:latin typeface="Aptos"/>
              </a:rPr>
              <a:t>Custom agents</a:t>
            </a:r>
          </a:p>
          <a:p>
            <a:r>
              <a:rPr b="1" sz="1600">
                <a:solidFill>
                  <a:srgbClr val="1746D1"/>
                </a:solidFill>
                <a:latin typeface="Aptos"/>
              </a:rPr>
              <a:t>code.visualstudio.com/docs/copilot/customization/custom-agents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" y="2465832"/>
            <a:ext cx="5943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60">
                <a:solidFill>
                  <a:srgbClr val="1746D1"/>
                </a:solidFill>
                <a:latin typeface="Aptos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5800" y="3288792"/>
            <a:ext cx="5943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60">
                <a:solidFill>
                  <a:srgbClr val="1746D1"/>
                </a:solidFill>
                <a:latin typeface="Aptos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" y="4111752"/>
            <a:ext cx="5943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60">
                <a:solidFill>
                  <a:srgbClr val="1746D1"/>
                </a:solidFill>
                <a:latin typeface="Aptos"/>
              </a:rPr>
              <a:t>03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3063240"/>
            <a:ext cx="7772400" cy="12700"/>
          </a:xfrm>
          <a:prstGeom prst="rect">
            <a:avLst/>
          </a:prstGeom>
          <a:solidFill>
            <a:srgbClr val="CFD8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Shape 17"/>
          <p:cNvSpPr/>
          <p:nvPr/>
        </p:nvSpPr>
        <p:spPr>
          <a:xfrm>
            <a:off x="685800" y="3886200"/>
            <a:ext cx="7772400" cy="12700"/>
          </a:xfrm>
          <a:prstGeom prst="rect">
            <a:avLst/>
          </a:prstGeom>
          <a:solidFill>
            <a:srgbClr val="CFD8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Shape 18"/>
          <p:cNvSpPr/>
          <p:nvPr/>
        </p:nvSpPr>
        <p:spPr>
          <a:xfrm>
            <a:off x="685800" y="2011680"/>
            <a:ext cx="594360" cy="54864"/>
          </a:xfrm>
          <a:prstGeom prst="rect">
            <a:avLst/>
          </a:prstGeom>
          <a:solidFill>
            <a:srgbClr val="E45A3E"/>
          </a:solidFill>
          <a:ln>
            <a:noFill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65760"/>
            <a:ext cx="5486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1746D1"/>
                </a:solidFill>
                <a:latin typeface="Aptos"/>
              </a:rPr>
              <a:t>ROUTE 02  /  COPILOT APP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68680"/>
            <a:ext cx="7772400" cy="1005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 spc="-80">
                <a:solidFill>
                  <a:srgbClr val="172033"/>
                </a:solidFill>
                <a:latin typeface="Aptos Display"/>
              </a:rPr>
              <a:t>Move from intent to merge.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03120"/>
            <a:ext cx="777240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Work in a focused desktop workspace built around parallel agent sessions.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Use issues, plans, Autopilot, MCP, pull requests, Agent Merge, and canvases.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The Tailspin Toys template provides the repository-backed development loop.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FFF3EF"/>
          </a:solidFill>
        </p:spPr>
        <p:txBody>
          <a:bodyPr rtlCol="0" anchor="ctr"/>
          <a:lstStyle/>
          <a:p>
            <a:r>
              <a:rPr b="1" sz="1600">
                <a:solidFill>
                  <a:srgbClr val="C53F25"/>
                </a:solidFill>
                <a:latin typeface="Aptos"/>
              </a:rPr>
              <a:t>START  ·  Install the GitHub Copilot app, sign in, and create your Tailspin repository.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55080"/>
            <a:ext cx="6858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0000" y="6355080"/>
            <a:ext cx="4572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1746D1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47472"/>
            <a:ext cx="6858000" cy="31089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 spc="240">
                <a:solidFill>
                  <a:srgbClr val="C53F25"/>
                </a:solidFill>
                <a:latin typeface="Aptos"/>
              </a:rPr>
              <a:t>ROUTE 02  /  COPILOT APP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754380"/>
            <a:ext cx="7772400" cy="11887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200" spc="-60">
                <a:solidFill>
                  <a:srgbClr val="172033"/>
                </a:solidFill>
                <a:latin typeface="Aptos Display"/>
              </a:rPr>
              <a:t>What we’ll do in the app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1600" y="2377440"/>
            <a:ext cx="7086600" cy="7924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172033"/>
                </a:solidFill>
                <a:latin typeface="Aptos"/>
              </a:rPr>
              <a:t>Install and orient</a:t>
            </a:r>
          </a:p>
          <a:p>
            <a:r>
              <a:rPr sz="1700">
                <a:solidFill>
                  <a:srgbClr val="455166"/>
                </a:solidFill>
                <a:latin typeface="Aptos"/>
              </a:rPr>
              <a:t>Set up the app and walk the guided product tour.</a:t>
            </a:r>
          </a:p>
          <a:p>
            <a:r>
              <a:rPr sz="600">
                <a:solidFill>
                  <a:srgbClr val="455166"/>
                </a:solidFill>
                <a:latin typeface="Aptos"/>
              </a:rPr>
              <a:t xml:space="preserve"> 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FFF3EF"/>
          </a:solidFill>
        </p:spPr>
        <p:txBody>
          <a:bodyPr rtlCol="0" anchor="ctr"/>
          <a:lstStyle/>
          <a:p>
            <a:r>
              <a:rPr b="1" sz="1900">
                <a:solidFill>
                  <a:srgbClr val="C53F25"/>
                </a:solidFill>
                <a:latin typeface="Aptos"/>
              </a:rPr>
              <a:t>DELIVER  ·  From issue to reviewed, tested, merged change.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00216"/>
            <a:ext cx="685800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46720" y="6300216"/>
            <a:ext cx="64008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300">
                <a:solidFill>
                  <a:srgbClr val="C53F25"/>
                </a:solidFill>
                <a:latin typeface="Aptos"/>
              </a:rPr>
              <a:t>07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1600" y="3200400"/>
            <a:ext cx="7086600" cy="7924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172033"/>
                </a:solidFill>
                <a:latin typeface="Aptos"/>
              </a:rPr>
              <a:t>Run real agent sessions</a:t>
            </a:r>
          </a:p>
          <a:p>
            <a:r>
              <a:rPr sz="1700">
                <a:solidFill>
                  <a:srgbClr val="455166"/>
                </a:solidFill>
                <a:latin typeface="Aptos"/>
              </a:rPr>
              <a:t>Custom instructions, Plan mode, and Autopilot on Tailspin.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1600" y="4023360"/>
            <a:ext cx="7086600" cy="7924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172033"/>
                </a:solidFill>
                <a:latin typeface="Aptos"/>
              </a:rPr>
              <a:t>Test, review, and merge</a:t>
            </a:r>
          </a:p>
          <a:p>
            <a:r>
              <a:rPr sz="1700">
                <a:solidFill>
                  <a:srgbClr val="455166"/>
                </a:solidFill>
                <a:latin typeface="Aptos"/>
              </a:rPr>
              <a:t>Playwright MCP, Agent Merge, and planning on canvases.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" y="2465832"/>
            <a:ext cx="5943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60">
                <a:solidFill>
                  <a:srgbClr val="C53F25"/>
                </a:solidFill>
                <a:latin typeface="Aptos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5800" y="3288792"/>
            <a:ext cx="5943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60">
                <a:solidFill>
                  <a:srgbClr val="C53F25"/>
                </a:solidFill>
                <a:latin typeface="Aptos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" y="4111752"/>
            <a:ext cx="5943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60">
                <a:solidFill>
                  <a:srgbClr val="C53F25"/>
                </a:solidFill>
                <a:latin typeface="Aptos"/>
              </a:rPr>
              <a:t>03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3063240"/>
            <a:ext cx="7772400" cy="12700"/>
          </a:xfrm>
          <a:prstGeom prst="rect">
            <a:avLst/>
          </a:prstGeom>
          <a:solidFill>
            <a:srgbClr val="F0D7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Shape 17"/>
          <p:cNvSpPr/>
          <p:nvPr/>
        </p:nvSpPr>
        <p:spPr>
          <a:xfrm>
            <a:off x="685800" y="3886200"/>
            <a:ext cx="7772400" cy="12700"/>
          </a:xfrm>
          <a:prstGeom prst="rect">
            <a:avLst/>
          </a:prstGeom>
          <a:solidFill>
            <a:srgbClr val="F0D7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Shape 18"/>
          <p:cNvSpPr/>
          <p:nvPr/>
        </p:nvSpPr>
        <p:spPr>
          <a:xfrm>
            <a:off x="685800" y="2011680"/>
            <a:ext cx="594360" cy="54864"/>
          </a:xfrm>
          <a:prstGeom prst="rect">
            <a:avLst/>
          </a:prstGeom>
          <a:solidFill>
            <a:srgbClr val="E45A3E"/>
          </a:solidFill>
          <a:ln>
            <a:noFill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65760"/>
            <a:ext cx="5486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1746D1"/>
                </a:solidFill>
                <a:latin typeface="Aptos"/>
              </a:rPr>
              <a:t>COPILOT APP  /  LESSONS 0–1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68680"/>
            <a:ext cx="7772400" cy="1005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 spc="-80">
                <a:solidFill>
                  <a:srgbClr val="172033"/>
                </a:solidFill>
                <a:latin typeface="Aptos Display"/>
              </a:rPr>
              <a:t>Install with the prerequisites ready.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03120"/>
            <a:ext cx="777240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Confirm Git, Node.js, GitHub access, and the Copilot policy required by your organization.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Install the desktop app, sign in, and identify sessions, project controls, and changes.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Keep the workshop site and browser available for repo setup and verification.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600">
                <a:solidFill>
                  <a:srgbClr val="1746D1"/>
                </a:solidFill>
                <a:latin typeface="Aptos"/>
              </a:rPr>
              <a:t>READY  ·  The app opens to your signed-in workspace and can access local repositories.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55080"/>
            <a:ext cx="6858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0000" y="6355080"/>
            <a:ext cx="4572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1746D1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65760"/>
            <a:ext cx="5486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1746D1"/>
                </a:solidFill>
                <a:latin typeface="Aptos"/>
              </a:rPr>
              <a:t>COPILOT APP  /  LESSON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68680"/>
            <a:ext cx="7772400" cy="1005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 spc="-80">
                <a:solidFill>
                  <a:srgbClr val="172033"/>
                </a:solidFill>
                <a:latin typeface="Aptos Display"/>
              </a:rPr>
              <a:t>Run your first Tailspin session.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03120"/>
            <a:ext cx="777240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Create your own repository from the Tailspin Toys template and open it as a project.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Start an isolated agent session to add a star-rating change from a focused prompt.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Inspect the session diff, verify the implementation, and turn the result into a pull request.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600">
                <a:solidFill>
                  <a:srgbClr val="1746D1"/>
                </a:solidFill>
                <a:latin typeface="Aptos"/>
              </a:rPr>
              <a:t>NOTICE  ·  Worktrees isolate parallel edits; the diff keeps the developer accountable.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55080"/>
            <a:ext cx="6858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0000" y="6355080"/>
            <a:ext cx="4572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1746D1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65760"/>
            <a:ext cx="5486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1746D1"/>
                </a:solidFill>
                <a:latin typeface="Aptos"/>
              </a:rPr>
              <a:t>COPILOT APP  /  LESSON 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68680"/>
            <a:ext cx="7772400" cy="1005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 spc="-80">
                <a:solidFill>
                  <a:srgbClr val="172033"/>
                </a:solidFill>
                <a:latin typeface="Aptos Display"/>
              </a:rPr>
              <a:t>Turn standards into durable context.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03120"/>
            <a:ext cx="777240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Use a GitHub issue to describe the documentation standard the repository needs.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Start a session from the issue and add concise custom instructions in the right scope.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Review the pull request so future sessions inherit the repository convention.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600">
                <a:solidFill>
                  <a:srgbClr val="1746D1"/>
                </a:solidFill>
                <a:latin typeface="Aptos"/>
              </a:rPr>
              <a:t>OUTCOME  ·  Context becomes versioned project infrastructure instead of prompt folklore.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55080"/>
            <a:ext cx="6858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0000" y="6355080"/>
            <a:ext cx="4572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1746D1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65760"/>
            <a:ext cx="5486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1746D1"/>
                </a:solidFill>
                <a:latin typeface="Aptos"/>
              </a:rPr>
              <a:t>COPILOT APP  /  LESSON 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68680"/>
            <a:ext cx="7772400" cy="1005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 spc="-80">
                <a:solidFill>
                  <a:srgbClr val="172033"/>
                </a:solidFill>
                <a:latin typeface="Aptos Display"/>
              </a:rPr>
              <a:t>Plan clearly. Let Autopilot execute.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03120"/>
            <a:ext cx="777240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Use Plan mode to agree on filtering behavior, files, edge cases, and verification.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Move the approved plan into Autopilot for independent implementation and validation.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Review the final diff and use a reusable skill to verify the behavior.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600">
                <a:solidFill>
                  <a:srgbClr val="1746D1"/>
                </a:solidFill>
                <a:latin typeface="Aptos"/>
              </a:rPr>
              <a:t>CONTROL  ·  Match session autonomy to the clarity, isolation, and risk of the task.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55080"/>
            <a:ext cx="6858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0000" y="6355080"/>
            <a:ext cx="4572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1746D1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65760"/>
            <a:ext cx="5486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1746D1"/>
                </a:solidFill>
                <a:latin typeface="Aptos"/>
              </a:rPr>
              <a:t>COPILOT APP  /  LESSON 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68680"/>
            <a:ext cx="7772400" cy="1005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 spc="-80">
                <a:solidFill>
                  <a:srgbClr val="172033"/>
                </a:solidFill>
                <a:latin typeface="Aptos Display"/>
              </a:rPr>
              <a:t>Connect the agent to a real browser.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03120"/>
            <a:ext cx="777240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Add the Playwright MCP server and review the tools and permissions it exposes.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Run the filtering feature and let the session inspect and operate it in the browser.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Use browser evidence to close the gap between reading code and understanding behavior.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600">
                <a:solidFill>
                  <a:srgbClr val="1746D1"/>
                </a:solidFill>
                <a:latin typeface="Aptos"/>
              </a:rPr>
              <a:t>TRUST  ·  Verify MCP publishers and grant only the capabilities required for the task.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55080"/>
            <a:ext cx="6858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0000" y="6355080"/>
            <a:ext cx="4572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1746D1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65760"/>
            <a:ext cx="5486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1746D1"/>
                </a:solidFill>
                <a:latin typeface="Aptos"/>
              </a:rPr>
              <a:t>COPILOT APP  /  LESSON 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68680"/>
            <a:ext cx="7772400" cy="1005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 spc="-80">
                <a:solidFill>
                  <a:srgbClr val="172033"/>
                </a:solidFill>
                <a:latin typeface="Aptos Display"/>
              </a:rPr>
              <a:t>Automate the pull request finish line.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03120"/>
            <a:ext cx="777240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Enable Agent Merge on the filtering pull request and let it monitor checks and reviews.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Allow the agent to address blockers and resolve conflicts when GitHub permits.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Keep the final decision with the developer: inspect the code and confirm it is acceptable.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600">
                <a:solidFill>
                  <a:srgbClr val="1746D1"/>
                </a:solidFill>
                <a:latin typeface="Aptos"/>
              </a:rPr>
              <a:t>OWNERSHIP  ·  Automation removes coordination work, not responsibility for quality.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55080"/>
            <a:ext cx="6858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0000" y="6355080"/>
            <a:ext cx="4572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1746D1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65760"/>
            <a:ext cx="54864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1746D1"/>
                </a:solidFill>
                <a:latin typeface="Aptos"/>
              </a:rPr>
              <a:t>COPILOT APP  /  LESSONS 7–8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68680"/>
            <a:ext cx="7772400" cy="10058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 spc="-80">
                <a:solidFill>
                  <a:srgbClr val="172033"/>
                </a:solidFill>
                <a:latin typeface="Aptos Display"/>
              </a:rPr>
              <a:t>Make planning persistent and shared.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103120"/>
            <a:ext cx="777240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Create a canvas that both you and the agent can update while planning and tracking work.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Choose repository scope for team sharing or user scope for a private local tool.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Review the complete workflow, then automate recurring tasks that deserve a repeatable cadence.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600">
                <a:solidFill>
                  <a:srgbClr val="1746D1"/>
                </a:solidFill>
                <a:latin typeface="Aptos"/>
              </a:rPr>
              <a:t>FINISH  ·  Move from a conversation to durable surfaces, workflows, and merged outcomes.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55080"/>
            <a:ext cx="68580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 spc="8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30000" y="6355080"/>
            <a:ext cx="457200" cy="2743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000">
                <a:solidFill>
                  <a:srgbClr val="1746D1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47472"/>
            <a:ext cx="6858000" cy="31089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 spc="240">
                <a:solidFill>
                  <a:srgbClr val="C53F25"/>
                </a:solidFill>
                <a:latin typeface="Aptos"/>
              </a:rPr>
              <a:t>COPILOT APP  /  DOCUMENTATION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754380"/>
            <a:ext cx="7772400" cy="11887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200" spc="-60">
                <a:solidFill>
                  <a:srgbClr val="172033"/>
                </a:solidFill>
                <a:latin typeface="Aptos Display"/>
              </a:rPr>
              <a:t>Keep exploring the Copilot app.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1600" y="2377440"/>
            <a:ext cx="7086600" cy="7924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172033"/>
                </a:solidFill>
                <a:latin typeface="Aptos"/>
              </a:rPr>
              <a:t>Copilot app overview</a:t>
            </a:r>
          </a:p>
          <a:p>
            <a:r>
              <a:rPr b="1" sz="1600">
                <a:solidFill>
                  <a:srgbClr val="C53F25"/>
                </a:solidFill>
                <a:latin typeface="Aptos"/>
              </a:rPr>
              <a:t>docs.github.com/copilot/how-tos/github-copilot-app</a:t>
            </a:r>
          </a:p>
          <a:p>
            <a:r>
              <a:rPr b="1" sz="600">
                <a:solidFill>
                  <a:srgbClr val="1746D1"/>
                </a:solidFill>
                <a:latin typeface="Aptos"/>
              </a:rPr>
              <a:t xml:space="preserve"> 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FFF3EF"/>
          </a:solidFill>
        </p:spPr>
        <p:txBody>
          <a:bodyPr rtlCol="0" anchor="ctr"/>
          <a:lstStyle/>
          <a:p>
            <a:r>
              <a:rPr b="1" sz="1900">
                <a:solidFill>
                  <a:srgbClr val="C53F25"/>
                </a:solidFill>
                <a:latin typeface="Aptos"/>
              </a:rPr>
              <a:t>ALL LINKS  ·  aka.ms/ndc-oslo-copilot-workshop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00216"/>
            <a:ext cx="685800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46720" y="6300216"/>
            <a:ext cx="64008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300">
                <a:solidFill>
                  <a:srgbClr val="C53F25"/>
                </a:solidFill>
                <a:latin typeface="Aptos"/>
              </a:rPr>
              <a:t>08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1600" y="3200400"/>
            <a:ext cx="7086600" cy="7924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172033"/>
                </a:solidFill>
                <a:latin typeface="Aptos"/>
              </a:rPr>
              <a:t>Agent sessions</a:t>
            </a:r>
          </a:p>
          <a:p>
            <a:r>
              <a:rPr b="1" sz="1600">
                <a:solidFill>
                  <a:srgbClr val="C53F25"/>
                </a:solidFill>
                <a:latin typeface="Aptos"/>
              </a:rPr>
              <a:t>docs.github.com/copilot/how-tos/github-copilot-app/agent-sessions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1600" y="4023360"/>
            <a:ext cx="7086600" cy="7924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400">
                <a:solidFill>
                  <a:srgbClr val="172033"/>
                </a:solidFill>
                <a:latin typeface="Aptos"/>
              </a:rPr>
              <a:t>Canvases, issues &amp; pull requests</a:t>
            </a:r>
          </a:p>
          <a:p>
            <a:r>
              <a:rPr b="1" sz="1600">
                <a:solidFill>
                  <a:srgbClr val="C53F25"/>
                </a:solidFill>
                <a:latin typeface="Aptos"/>
              </a:rPr>
              <a:t>aka.ms/ndc-oslo-copilot-workshop  →  Resources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" y="2465832"/>
            <a:ext cx="5943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60">
                <a:solidFill>
                  <a:srgbClr val="C53F25"/>
                </a:solidFill>
                <a:latin typeface="Aptos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5800" y="3288792"/>
            <a:ext cx="5943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60">
                <a:solidFill>
                  <a:srgbClr val="C53F25"/>
                </a:solidFill>
                <a:latin typeface="Aptos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" y="4111752"/>
            <a:ext cx="5943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60">
                <a:solidFill>
                  <a:srgbClr val="C53F25"/>
                </a:solidFill>
                <a:latin typeface="Aptos"/>
              </a:rPr>
              <a:t>03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3063240"/>
            <a:ext cx="7772400" cy="12700"/>
          </a:xfrm>
          <a:prstGeom prst="rect">
            <a:avLst/>
          </a:prstGeom>
          <a:solidFill>
            <a:srgbClr val="F0D7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Shape 17"/>
          <p:cNvSpPr/>
          <p:nvPr/>
        </p:nvSpPr>
        <p:spPr>
          <a:xfrm>
            <a:off x="685800" y="3886200"/>
            <a:ext cx="7772400" cy="12700"/>
          </a:xfrm>
          <a:prstGeom prst="rect">
            <a:avLst/>
          </a:prstGeom>
          <a:solidFill>
            <a:srgbClr val="F0D7C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Shape 18"/>
          <p:cNvSpPr/>
          <p:nvPr/>
        </p:nvSpPr>
        <p:spPr>
          <a:xfrm>
            <a:off x="685800" y="2011680"/>
            <a:ext cx="594360" cy="54864"/>
          </a:xfrm>
          <a:prstGeom prst="rect">
            <a:avLst/>
          </a:prstGeom>
          <a:solidFill>
            <a:srgbClr val="E45A3E"/>
          </a:solidFill>
          <a:ln>
            <a:noFill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508760"/>
            <a:ext cx="2423160" cy="2423160"/>
          </a:xfrm>
          <a:prstGeom prst="rect">
            <a:avLst/>
          </a:prstGeom>
        </p:spPr>
      </p:pic>
      <p:sp>
        <p:nvSpPr>
          <p:cNvPr id="2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746D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685800" y="502920"/>
            <a:ext cx="7772400" cy="45720"/>
          </a:xfrm>
          <a:prstGeom prst="rect">
            <a:avLst/>
          </a:prstGeom>
          <a:solidFill>
            <a:srgbClr val="CFD8E8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685800" y="411480"/>
            <a:ext cx="182880" cy="182880"/>
          </a:xfrm>
          <a:prstGeom prst="ellipse">
            <a:avLst/>
          </a:prstGeom>
          <a:solidFill>
            <a:srgbClr val="E45A3E"/>
          </a:solidFill>
        </p:spPr>
        <p:txBody>
          <a:bodyPr rtlCol="0" anchor="ctr"/>
          <a:lstStyle/>
          <a:p/>
        </p:txBody>
      </p:sp>
      <p:sp>
        <p:nvSpPr>
          <p:cNvPr id="5" name="TextBox 5"/>
          <p:cNvSpPr txBox="1"/>
          <p:nvPr/>
        </p:nvSpPr>
        <p:spPr>
          <a:xfrm>
            <a:off x="960120" y="347472"/>
            <a:ext cx="6858000" cy="31089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 spc="240">
                <a:solidFill>
                  <a:srgbClr val="1746D1"/>
                </a:solidFill>
                <a:latin typeface="Aptos"/>
              </a:rPr>
              <a:t>KEEP BUILDING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754380"/>
            <a:ext cx="4572000" cy="128016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600" spc="-60">
                <a:solidFill>
                  <a:srgbClr val="172033"/>
                </a:solidFill>
                <a:latin typeface="Aptos Display"/>
              </a:rPr>
              <a:t>Take the route home.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2286000"/>
            <a:ext cx="4206240" cy="23774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455166"/>
                </a:solidFill>
                <a:latin typeface="Aptos"/>
              </a:rPr>
              <a:t>Finish the lessons at your own pace.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Repeat the exercises on your own repos.</a:t>
            </a:r>
          </a:p>
          <a:p>
            <a:r>
              <a:rPr sz="2000">
                <a:solidFill>
                  <a:srgbClr val="455166"/>
                </a:solidFill>
                <a:latin typeface="Aptos"/>
              </a:rPr>
              <a:t>Scan to return at any time.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4937760"/>
            <a:ext cx="7772400" cy="9144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>
            <a:r>
              <a:rPr b="1" sz="1900">
                <a:solidFill>
                  <a:srgbClr val="1746D1"/>
                </a:solidFill>
                <a:latin typeface="Aptos"/>
              </a:rPr>
              <a:t>WORKSHOP  ·  aka.ms/ndc-oslo-copilot-workshop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6300216"/>
            <a:ext cx="685800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200" spc="120">
                <a:solidFill>
                  <a:srgbClr val="7A8497"/>
                </a:solidFill>
                <a:latin typeface="Aptos"/>
              </a:rPr>
              <a:t>NDC OSLO × GITHUB COPILOT WORKSHOP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46720" y="6300216"/>
            <a:ext cx="64008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300">
                <a:solidFill>
                  <a:srgbClr val="1746D1"/>
                </a:solidFill>
                <a:latin typeface="Aptos"/>
              </a:rPr>
              <a:t>09</a:t>
            </a:r>
          </a:p>
        </p:txBody>
      </p:sp>
      <p:sp>
        <p:nvSpPr>
          <p:cNvPr id="11" name="Shape 11"/>
          <p:cNvSpPr/>
          <p:nvPr/>
        </p:nvSpPr>
        <p:spPr>
          <a:xfrm>
            <a:off x="5257800" y="1143000"/>
            <a:ext cx="3200400" cy="3657600"/>
          </a:xfrm>
          <a:prstGeom prst="roundRect">
            <a:avLst/>
          </a:prstGeom>
          <a:solidFill>
            <a:srgbClr val="E8F0FF"/>
          </a:solidFill>
        </p:spPr>
        <p:txBody>
          <a:bodyPr rtlCol="0" anchor="ctr"/>
          <a:lstStyle/>
          <a:p/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508760"/>
            <a:ext cx="2423160" cy="2423160"/>
          </a:xfrm>
          <a:prstGeom prst="rect">
            <a:avLst/>
          </a:prstGeom>
        </p:spPr>
      </p:pic>
      <p:sp>
        <p:nvSpPr>
          <p:cNvPr id="14" name="Shape 14"/>
          <p:cNvSpPr/>
          <p:nvPr/>
        </p:nvSpPr>
        <p:spPr>
          <a:xfrm>
            <a:off x="685800" y="2011680"/>
            <a:ext cx="594360" cy="54864"/>
          </a:xfrm>
          <a:prstGeom prst="rect">
            <a:avLst/>
          </a:prstGeom>
          <a:solidFill>
            <a:srgbClr val="E45A3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5669280" y="4114800"/>
            <a:ext cx="2423160" cy="3200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400" spc="200">
                <a:solidFill>
                  <a:srgbClr val="1746D1"/>
                </a:solidFill>
                <a:latin typeface="Aptos"/>
              </a:rPr>
              <a:t>SCAN TO RETURN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