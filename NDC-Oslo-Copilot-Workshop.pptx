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60" r:id="rId11"/>
    <p:sldId id="262" r:id="rId13"/>
    <p:sldId id="268" r:id="rId19"/>
    <p:sldId id="270" r:id="rId21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Pause here so everyone can scan or type the workshop URL.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Replace the placeholder redemption code on this slide before presenting.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 of the VS Code lab section. Leave this slide up during questions.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Transition from the VS Code lab to the GitHub Copilot app lab.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 of the Copilot App lab section. Leave this slide up during questions.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Closing slide. Keep this visible while attendees save the workshop URL.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Map the complete VS Code lab at a glance; individual exercise details remain in the workshop 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Map the complete Copilot App lab, including the restored guided tour before Tailspin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5486400" y="0"/>
            <a:ext cx="365760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172200" y="5394960"/>
            <a:ext cx="2286000" cy="36576"/>
          </a:xfrm>
          <a:prstGeom prst="rect">
            <a:avLst/>
          </a:prstGeom>
          <a:solidFill>
            <a:srgbClr val="8CB0FF"/>
          </a:solidFill>
        </p:spPr>
        <p:txBody>
          <a:bodyPr rtlCol="0" anchor="ctr"/>
          <a:lstStyle/>
          <a:p/>
        </p:txBody>
      </p:sp>
      <p:sp>
        <p:nvSpPr>
          <p:cNvPr id="5" name="Shape 5"/>
          <p:cNvSpPr/>
          <p:nvPr/>
        </p:nvSpPr>
        <p:spPr>
          <a:xfrm>
            <a:off x="6080760" y="5303520"/>
            <a:ext cx="182880" cy="182880"/>
          </a:xfrm>
          <a:prstGeom prst="ellipse">
            <a:avLst/>
          </a:prstGeom>
          <a:solidFill>
            <a:srgbClr val="F8FAFC"/>
          </a:solidFill>
        </p:spPr>
        <p:txBody>
          <a:bodyPr rtlCol="0" anchor="ctr"/>
          <a:lstStyle/>
          <a:p/>
        </p:txBody>
      </p:sp>
      <p:sp>
        <p:nvSpPr>
          <p:cNvPr id="6" name="Shape 6"/>
          <p:cNvSpPr/>
          <p:nvPr/>
        </p:nvSpPr>
        <p:spPr>
          <a:xfrm>
            <a:off x="7178040" y="530352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7" name="Shape 7"/>
          <p:cNvSpPr/>
          <p:nvPr/>
        </p:nvSpPr>
        <p:spPr>
          <a:xfrm>
            <a:off x="8366760" y="5303520"/>
            <a:ext cx="182880" cy="182880"/>
          </a:xfrm>
          <a:prstGeom prst="ellipse">
            <a:avLst/>
          </a:prstGeom>
          <a:solidFill>
            <a:srgbClr val="F8FAFC"/>
          </a:solidFill>
        </p:spPr>
        <p:txBody>
          <a:bodyPr rtlCol="0" anchor="ctr"/>
          <a:lstStyle/>
          <a:p/>
        </p:txBody>
      </p:sp>
      <p:sp>
        <p:nvSpPr>
          <p:cNvPr id="8" name="Shape 8"/>
          <p:cNvSpPr/>
          <p:nvPr/>
        </p:nvSpPr>
        <p:spPr>
          <a:xfrm>
            <a:off x="6492240" y="914400"/>
            <a:ext cx="1645920" cy="1645920"/>
          </a:xfrm>
          <a:prstGeom prst="triangle">
            <a:avLst/>
          </a:prstGeom>
          <a:solidFill>
            <a:srgbClr val="F8FAFC"/>
          </a:solidFill>
        </p:spPr>
        <p:txBody>
          <a:bodyPr rtlCol="0" anchor="ctr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731520" y="548640"/>
            <a:ext cx="420624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300" spc="120">
                <a:solidFill>
                  <a:srgbClr val="1746D1"/>
                </a:solidFill>
                <a:latin typeface="Aptos"/>
              </a:rPr>
              <a:t>NDC OSLO 2026  ·  OSLO SPEKTRUM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31520" y="1371600"/>
            <a:ext cx="4206240" cy="173736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4200" spc="-100">
                <a:solidFill>
                  <a:srgbClr val="172033"/>
                </a:solidFill>
                <a:latin typeface="Aptos Display"/>
              </a:rPr>
              <a:t>GitHub Copilot</a:t>
            </a:r>
          </a:p>
          <a:p>
            <a:r>
              <a:rPr b="1" sz="4200" spc="-100">
                <a:solidFill>
                  <a:srgbClr val="1746D1"/>
                </a:solidFill>
                <a:latin typeface="Aptos Display"/>
              </a:rPr>
              <a:t>Workshop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31520" y="3429000"/>
            <a:ext cx="420624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5A6578"/>
                </a:solidFill>
                <a:latin typeface="Aptos"/>
              </a:rPr>
              <a:t>Two tracks. One agentic development journey.</a:t>
            </a:r>
          </a:p>
          <a:p>
            <a:r>
              <a:rPr sz="2000">
                <a:solidFill>
                  <a:srgbClr val="5A6578"/>
                </a:solidFill>
                <a:latin typeface="Aptos"/>
              </a:rPr>
              <a:t>Start in VS Code, then move to the GitHub Copilot app.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31520" y="5486400"/>
            <a:ext cx="4206240" cy="5486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400">
                <a:solidFill>
                  <a:srgbClr val="172033"/>
                </a:solidFill>
                <a:latin typeface="Aptos"/>
              </a:rPr>
              <a:t>KAYLA CINNAMON  ×  JAMES MONTEMAGNO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172200" y="3108960"/>
            <a:ext cx="2286000" cy="5486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2400">
                <a:solidFill>
                  <a:srgbClr val="F8FAFC"/>
                </a:solidFill>
                <a:latin typeface="Aptos Display"/>
              </a:rPr>
              <a:t>01  VS CODE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172200" y="3840480"/>
            <a:ext cx="2286000" cy="5486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2400">
                <a:solidFill>
                  <a:srgbClr val="F8FAFC"/>
                </a:solidFill>
                <a:latin typeface="Aptos Display"/>
              </a:rPr>
              <a:t>02  COPILOT APP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172200" y="4754880"/>
            <a:ext cx="2286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100" spc="110">
                <a:solidFill>
                  <a:srgbClr val="C9D8FF"/>
                </a:solidFill>
                <a:latin typeface="Aptos"/>
              </a:rPr>
              <a:t>TWO CONNECTED WORK SURFACES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31520" y="6309360"/>
            <a:ext cx="420624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400">
                <a:solidFill>
                  <a:srgbClr val="1746D1"/>
                </a:solidFill>
                <a:latin typeface="Aptos"/>
              </a:rPr>
              <a:t>aka.ms/ndc-oslo-copilot-workshop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WORKSHOP ROUTE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Workshop at a glance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01  VS Code — build with local agents, skills, hooks, and browser tools.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02  Copilot App — move from issue to implementation, review, testing, and merge.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Keep the workshop site open as your shared route map.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OUTCOME  ·  Complete two practical, repo-backed development loops.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ARRIVE READY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Prepare once. Stay in flow.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GitHub account with Copilot access and permission to create repositories.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Git · Node.js 22 or 24 · VS Code 1.135+ · GitHub Copilot app.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Clone agent-lab-typescript before the workshop and verify both sign-ins.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PRE-FLIGHT  ·  Open Copilot Chat with Local selected, then launch the Copilot app.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START HERE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Scan once. Keep this route open.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420624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Preparation, both labs, lesson order, resources, and browser-saved progress.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Open the workshop on your laptop before we begin.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Use the same route whenever you need to resume.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WORKSHOP  ·  https://aka.ms/ndc-oslo-copilot-workshop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03</a:t>
            </a:r>
          </a:p>
        </p:txBody>
      </p:sp>
      <p:sp>
        <p:nvSpPr>
          <p:cNvPr id="11" name="Shape 11"/>
          <p:cNvSpPr/>
          <p:nvPr/>
        </p:nvSpPr>
        <p:spPr>
          <a:xfrm>
            <a:off x="5257800" y="1143000"/>
            <a:ext cx="3200400" cy="36576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/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508760"/>
            <a:ext cx="2423160" cy="242316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508760"/>
            <a:ext cx="242316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COMPLIMENTARY ACCESS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One month of GitHub Copilot Pro+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16459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Use the workshop redemption code provided by the presenters.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Sign in to the GitHub account you want to upgrade.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Enter the code at github.com/redeem and follow the confirmation flow.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REDEEM  ·  https://github.com/redeem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04</a:t>
            </a:r>
          </a:p>
        </p:txBody>
      </p:sp>
      <p:sp>
        <p:nvSpPr>
          <p:cNvPr id="11" name="Shape 11"/>
          <p:cNvSpPr/>
          <p:nvPr/>
        </p:nvSpPr>
        <p:spPr>
          <a:xfrm>
            <a:off x="685800" y="3886200"/>
            <a:ext cx="7772400" cy="822960"/>
          </a:xfrm>
          <a:prstGeom prst="roundRect">
            <a:avLst/>
          </a:prstGeom>
          <a:solidFill>
            <a:srgbClr val="FFF3EF"/>
          </a:solidFill>
          <a:ln w="19050">
            <a:solidFill>
              <a:srgbClr val="E45A3E"/>
            </a:solidFill>
          </a:ln>
        </p:spPr>
        <p:txBody>
          <a:bodyPr rtlCol="0" anchor="ctr"/>
          <a:lstStyle/>
          <a:p>
            <a:r>
              <a:rPr b="1" sz="2400" spc="150">
                <a:solidFill>
                  <a:srgbClr val="C53F25"/>
                </a:solidFill>
                <a:latin typeface="Aptos Display"/>
              </a:rPr>
              <a:t>[ ADD REDEMPTION CODE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ROUTE 01  /  VS CODE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Build inside the editor.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Transform Bingo Mixer, a social bingo app built with TypeScript, Vite, and Tailwind CSS.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Work with Local agent sessions, custom agents, reusable skills, hooks, and browser tools.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Five parts move from context engineering to multi-agent delivery.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1746D1"/>
          </a:solidFill>
        </p:spPr>
        <p:txBody>
          <a:bodyPr rtlCol="0" anchor="ctr"/>
          <a:lstStyle/>
          <a:p>
            <a:r>
              <a:rPr b="1" sz="1600">
                <a:solidFill>
                  <a:srgbClr val="F8FAFC"/>
                </a:solidFill>
                <a:latin typeface="Aptos"/>
              </a:rPr>
              <a:t>START  ·  Open the cloned agent-lab-typescript repository in VS Code.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ROUTE 01  /  VS CODE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VS Code lab: what we'll do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Engineer context  ·  /setup, /init, dogfooding, and reusable skills.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Design in Plan mode  ·  comment on real UI  ·  preserve design instructions.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Orchestrate Quiz Master, Pixel Jam, TDD, hooks, debug logs, and UX review.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BUILD  ·  Redesign and extend Bingo Mixer while making agent behavior observable.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VS CODE  /  PART 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Context is a product decision.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Clone the complete lab repository, review approvals, and run the /setup skill.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Use /init to create concise workspace instructions grounded in the actual codebase.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Dogfood the running app, save that workflow as a skill, and tour repo customizations.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NOTICE  ·  Better context changes the quality, scope, and reliability of every response.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VS CODE  /  PART 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Design first. Then implement.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Start a full redesign in Plan mode and improve the plan before implementation.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Capture the new visual direction with /create-instructions so future work stays coherent.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Comment on one real browser element, fix it precisely, and verify the interaction.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OUTCOME  ·  A distinctive frontend plus durable design guidance for the repository.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VS CODE  /  PART 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Give specialists a clear lane.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Choose the Quiz Master custom agent and generate a themed question set.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Inspect its prompt and handoffs frontmatter before accepting the generated content.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Review and send the prepared handoff to Pixel Jam for focused visual integration.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NOTICE  ·  Human-approved handoffs differ from autonomous subagent orchestration.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VS CODE  /  PART 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Orchestrate work. Keep the gates.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Activate a workspace Stop hook that prevents agents from finishing with failing tests.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Let the TDD agent coordinate Red → Green → Refactor, then inspect Agent Debug Logs.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Use Pixel Jam for Card Deck Shuffle and a UI Review agent for UX and accessibility.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OUTCOME  ·  Parallel specialization with visible flow, test discipline, and review.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VS CODE  /  PART 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Review the system you built.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A redesigned social bingo app with a custom quiz theme and specialist handoff.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A test-gated TDD flow, new bingo pattern, Card Deck Shuffle, and UX review.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Review the diff, confirm tests, commit clean checkpoints, and share what changed.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REFLECT  ·  Which instructions, skills, hooks, and agents belong in your own repos?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VS CODE  /  DOCUMENTATION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Keep exploring VS Code agents.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https://code.visualstudio.com/docs/copilot/overview</a:t>
            </a:r>
          </a:p>
          <a:p>
            <a:r>
              <a:rPr b="1" sz="1600">
                <a:solidFill>
                  <a:srgbClr val="1746D1"/>
                </a:solidFill>
                <a:latin typeface="Aptos"/>
              </a:rPr>
              <a:t>https://code.visualstudio.com/docs/copilot/chat/chat-agent-mode</a:t>
            </a:r>
          </a:p>
          <a:p>
            <a:r>
              <a:rPr b="1" sz="1600">
                <a:solidFill>
                  <a:srgbClr val="1746D1"/>
                </a:solidFill>
                <a:latin typeface="Aptos"/>
              </a:rPr>
              <a:t>https://code.visualstudio.com/docs/copilot/customization/custom-agents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MORE CUSTOMIZATIONS  ·  https://github.com/github/awesome-copilot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ROUTE 02  /  COPILOT APP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Move from intent to merge.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Work in a focused desktop workspace built around parallel agent sessions.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Use issues, plans, Autopilot, MCP, pull requests, Agent Merge, and canvases.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The Tailspin Toys template provides the repository-backed development loop.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FFF3EF"/>
          </a:solidFill>
        </p:spPr>
        <p:txBody>
          <a:bodyPr rtlCol="0" anchor="ctr"/>
          <a:lstStyle/>
          <a:p>
            <a:r>
              <a:rPr b="1" sz="1600">
                <a:solidFill>
                  <a:srgbClr val="C53F25"/>
                </a:solidFill>
                <a:latin typeface="Aptos"/>
              </a:rPr>
              <a:t>START  ·  Install the GitHub Copilot app, sign in, and create your Tailspin repository.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ROUTE 02  /  COPILOT APP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Copilot App lab: what we'll do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Install and orient  ·  complete the guided app tour.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Run Tailspin sessions  ·  add custom instructions  ·  use Plan and Autopilot.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Test with Playwright MCP  ·  land with Agent Merge  ·  plan on canvases.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DELIVER  ·  Move from issue to reviewed, tested, and merged change.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COPILOT APP  /  LESSONS 0–1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Install with the prerequisites ready.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Confirm Git, Node.js, GitHub access, and the Copilot policy required by your organization.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Install the desktop app, sign in, and identify sessions, project controls, and changes.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Keep the workshop site and browser available for repo setup and verification.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READY  ·  The app opens to your signed-in workspace and can access local repositories.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COPILOT APP  /  LESSON 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Run your first Tailspin session.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Create your own repository from the Tailspin Toys template and open it as a project.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Start an isolated agent session to add a star-rating change from a focused prompt.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Inspect the session diff, verify the implementation, and turn the result into a pull request.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NOTICE  ·  Worktrees isolate parallel edits; the diff keeps the developer accountable.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COPILOT APP  /  LESSON 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Turn standards into durable context.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Use a GitHub issue to describe the documentation standard the repository needs.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Start a session from the issue and add concise custom instructions in the right scope.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Review the pull request so future sessions inherit the repository convention.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OUTCOME  ·  Context becomes versioned project infrastructure instead of prompt folklore.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COPILOT APP  /  LESSON 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Plan clearly. Let Autopilot execute.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Use Plan mode to agree on filtering behavior, files, edge cases, and verification.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Move the approved plan into Autopilot for independent implementation and validation.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Review the final diff and use a reusable skill to verify the behavior.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CONTROL  ·  Match session autonomy to the clarity, isolation, and risk of the task.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COPILOT APP  /  LESSON 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Connect the agent to a real browser.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Add the Playwright MCP server and review the tools and permissions it exposes.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Run the filtering feature and let the session inspect and operate it in the browser.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Use browser evidence to close the gap between reading code and understanding behavior.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TRUST  ·  Verify MCP publishers and grant only the capabilities required for the task.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COPILOT APP  /  LESSON 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Automate the pull request finish line.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Enable Agent Merge on the filtering pull request and let it monitor checks and reviews.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Allow the agent to address blockers and resolve conflicts when GitHub permits.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Keep the final decision with the developer: inspect the code and confirm it is acceptable.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OWNERSHIP  ·  Automation removes coordination work, not responsibility for quality.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COPILOT APP  /  LESSONS 7–8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Make planning persistent and shared.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Create a canvas that both you and the agent can update while planning and tracking work.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Choose repository scope for team sharing or user scope for a private local tool.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Review the complete workflow, then automate recurring tasks that deserve a repeatable cadence.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FINISH  ·  Move from a conversation to durable surfaces, workflows, and merged outcomes.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COPILOT APP  /  DOCUMENTATION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Keep exploring the Copilot app.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777240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500">
                <a:solidFill>
                  <a:srgbClr val="1746D1"/>
                </a:solidFill>
                <a:latin typeface="Aptos"/>
              </a:rPr>
              <a:t>https://docs.github.com/copilot/how-tos/github-copilot-app</a:t>
            </a:r>
          </a:p>
          <a:p>
            <a:r>
              <a:rPr b="1" sz="1500">
                <a:solidFill>
                  <a:srgbClr val="1746D1"/>
                </a:solidFill>
                <a:latin typeface="Aptos"/>
              </a:rPr>
              <a:t>https://docs.github.com/copilot/how-tos/github-copilot-app/agent-sessions</a:t>
            </a:r>
          </a:p>
          <a:p>
            <a:r>
              <a:rPr b="1" sz="1500">
                <a:solidFill>
                  <a:srgbClr val="1746D1"/>
                </a:solidFill>
                <a:latin typeface="Aptos"/>
              </a:rPr>
              <a:t>https://docs.github.com/copilot/how-tos/github-copilot-app/managing-issues-and-pull-requests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CANVASES  ·  https://docs.github.com/copilot/how-tos/github-copilot-app/working-with-canvas-extensions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746D1"/>
          </a:solidFill>
        </p:spPr>
        <p:txBody>
          <a:bodyPr rtlCol="0" anchor="ctr"/>
          <a:lstStyle/>
          <a:p/>
        </p:txBody>
      </p:sp>
      <p:sp>
        <p:nvSpPr>
          <p:cNvPr id="3" name="Shape 3"/>
          <p:cNvSpPr/>
          <p:nvPr/>
        </p:nvSpPr>
        <p:spPr>
          <a:xfrm>
            <a:off x="685800" y="502920"/>
            <a:ext cx="7772400" cy="45720"/>
          </a:xfrm>
          <a:prstGeom prst="rect">
            <a:avLst/>
          </a:prstGeom>
          <a:solidFill>
            <a:srgbClr val="CFD8E8"/>
          </a:solidFill>
        </p:spPr>
        <p:txBody>
          <a:bodyPr rtlCol="0" anchor="ctr"/>
          <a:lstStyle/>
          <a:p/>
        </p:txBody>
      </p:sp>
      <p:sp>
        <p:nvSpPr>
          <p:cNvPr id="4" name="Shape 4"/>
          <p:cNvSpPr/>
          <p:nvPr/>
        </p:nvSpPr>
        <p:spPr>
          <a:xfrm>
            <a:off x="685800" y="411480"/>
            <a:ext cx="182880" cy="182880"/>
          </a:xfrm>
          <a:prstGeom prst="ellipse">
            <a:avLst/>
          </a:prstGeom>
          <a:solidFill>
            <a:srgbClr val="E45A3E"/>
          </a:solidFill>
        </p:spPr>
        <p:txBody>
          <a:bodyPr rtlCol="0" anchor="ctr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960120" y="365760"/>
            <a:ext cx="5486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200" spc="120">
                <a:solidFill>
                  <a:srgbClr val="1746D1"/>
                </a:solidFill>
                <a:latin typeface="Aptos"/>
              </a:rPr>
              <a:t>KEEP BUILDING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" y="868680"/>
            <a:ext cx="7772400" cy="10058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400" spc="-80">
                <a:solidFill>
                  <a:srgbClr val="172033"/>
                </a:solidFill>
                <a:latin typeface="Aptos Display"/>
              </a:rPr>
              <a:t>Take the route home.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2103120"/>
            <a:ext cx="4206240" cy="237744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000">
                <a:solidFill>
                  <a:srgbClr val="455166"/>
                </a:solidFill>
                <a:latin typeface="Aptos"/>
              </a:rPr>
              <a:t>Revisit the workshop to finish lessons, repeat exercises, and follow the documentation.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Share the workflows that worked—and the agent boundaries that made them trustworthy.</a:t>
            </a:r>
          </a:p>
          <a:p>
            <a:r>
              <a:rPr sz="2000">
                <a:solidFill>
                  <a:srgbClr val="455166"/>
                </a:solidFill>
                <a:latin typeface="Aptos"/>
              </a:rPr>
              <a:t>Scan the code or use the short link to return at any time.</a:t>
            </a:r>
          </a:p>
        </p:txBody>
      </p:sp>
      <p:sp>
        <p:nvSpPr>
          <p:cNvPr id="8" name="Shape 8"/>
          <p:cNvSpPr/>
          <p:nvPr/>
        </p:nvSpPr>
        <p:spPr>
          <a:xfrm>
            <a:off x="685800" y="4937760"/>
            <a:ext cx="7772400" cy="9144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>
            <a:r>
              <a:rPr b="1" sz="1600">
                <a:solidFill>
                  <a:srgbClr val="1746D1"/>
                </a:solidFill>
                <a:latin typeface="Aptos"/>
              </a:rPr>
              <a:t>WORKSHOP  ·  https://aka.ms/ndc-oslo-copilot-workshop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6355080"/>
            <a:ext cx="68580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 spc="80">
                <a:solidFill>
                  <a:srgbClr val="7A8497"/>
                </a:solidFill>
                <a:latin typeface="Aptos"/>
              </a:rPr>
              <a:t>NDC OSLO × GITHUB COPILOT WORKSHOP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0000" y="6355080"/>
            <a:ext cx="4572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1000">
                <a:solidFill>
                  <a:srgbClr val="1746D1"/>
                </a:solidFill>
                <a:latin typeface="Aptos"/>
              </a:rPr>
              <a:t>09</a:t>
            </a:r>
          </a:p>
        </p:txBody>
      </p:sp>
      <p:sp>
        <p:nvSpPr>
          <p:cNvPr id="11" name="Shape 11"/>
          <p:cNvSpPr/>
          <p:nvPr/>
        </p:nvSpPr>
        <p:spPr>
          <a:xfrm>
            <a:off x="5257800" y="1143000"/>
            <a:ext cx="3200400" cy="3657600"/>
          </a:xfrm>
          <a:prstGeom prst="roundRect">
            <a:avLst/>
          </a:prstGeom>
          <a:solidFill>
            <a:srgbClr val="E8F0FF"/>
          </a:solidFill>
        </p:spPr>
        <p:txBody>
          <a:bodyPr rtlCol="0" anchor="ctr"/>
          <a:lstStyle/>
          <a:p/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508760"/>
            <a:ext cx="2423160" cy="242316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508760"/>
            <a:ext cx="242316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